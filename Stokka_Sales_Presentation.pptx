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0" y="0"/>
            <a:ext cx="10972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138928" y="0"/>
            <a:ext cx="4005072" cy="51435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822960"/>
            <a:ext cx="3840480" cy="33101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42519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Simple. Offline. Bilingual.</a:t>
            </a:r>
            <a:endParaRPr lang="en-US" sz="13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1499616"/>
            <a:ext cx="310896" cy="31089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97880" y="1463040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Inventory Control</a:t>
            </a:r>
            <a:endParaRPr lang="en-US" sz="140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0" y="2157984"/>
            <a:ext cx="310896" cy="310896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897880" y="212140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Purchase Tracking</a:t>
            </a:r>
            <a:endParaRPr lang="en-US" sz="14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816352"/>
            <a:ext cx="310896" cy="310896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897880" y="2779776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 &amp; Insights</a:t>
            </a:r>
            <a:endParaRPr lang="en-US" sz="140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3474720"/>
            <a:ext cx="310896" cy="310896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5897880" y="3438144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&amp; Arabic UI</a:t>
            </a:r>
            <a:endParaRPr lang="en-US" sz="1400" dirty="0"/>
          </a:p>
        </p:txBody>
      </p:sp>
      <p:sp>
        <p:nvSpPr>
          <p:cNvPr id="15" name="Shape 8"/>
          <p:cNvSpPr/>
          <p:nvPr/>
        </p:nvSpPr>
        <p:spPr>
          <a:xfrm>
            <a:off x="0" y="4800600"/>
            <a:ext cx="5029200" cy="342900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16" name="Text 9"/>
          <p:cNvSpPr/>
          <p:nvPr/>
        </p:nvSpPr>
        <p:spPr>
          <a:xfrm>
            <a:off x="365760" y="4818888"/>
            <a:ext cx="27432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stokka.app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256032"/>
          </a:xfrm>
          <a:prstGeom prst="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small shop is harder than it looks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owners rely on notebooks, Excel, or memory — all of which fail them.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7830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783080"/>
            <a:ext cx="4114800" cy="54864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96596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9476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track of stock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331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Over-ordering or running out unexpectedly hurts sales and wastes cash.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663440" y="17830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663440" y="1783080"/>
            <a:ext cx="4114800" cy="5486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8032" y="196596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57800" y="19476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Unpaid invoices pile up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4800600" y="23317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to track who owes money — cash flow becomes a guessing game.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365760" y="31546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65760" y="3154680"/>
            <a:ext cx="411480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333756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60120" y="33192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is error-prone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502920" y="3703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Formulas break, files get lost, and no one else knows how the file works.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663440" y="3154680"/>
            <a:ext cx="411480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63440" y="3154680"/>
            <a:ext cx="4114800" cy="54864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032" y="333756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257800" y="3319272"/>
            <a:ext cx="3429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tools need internet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4800600" y="370332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cuts and connectivity issues make cloud-only software unreliable.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274320" y="487375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— Inventory Management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4572000" y="487375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Stokka?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desktop application designed for small shop owners — no internet needed, no training required.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1920240" cy="2560320"/>
          </a:xfrm>
          <a:prstGeom prst="rect">
            <a:avLst/>
          </a:prstGeom>
          <a:solidFill>
            <a:srgbClr val="1A305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6916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70432" y="1920240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" y="2926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on Windows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browser needed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542032" y="1691640"/>
            <a:ext cx="1920240" cy="2560320"/>
          </a:xfrm>
          <a:prstGeom prst="rect">
            <a:avLst/>
          </a:prstGeom>
          <a:solidFill>
            <a:srgbClr val="1A305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542032" y="16916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5264" y="1920240"/>
            <a:ext cx="502920" cy="5029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587752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Offline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587752" y="2926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without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internet, always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626864" y="1691640"/>
            <a:ext cx="1920240" cy="2560320"/>
          </a:xfrm>
          <a:prstGeom prst="rect">
            <a:avLst/>
          </a:prstGeom>
          <a:solidFill>
            <a:srgbClr val="1A305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626864" y="16916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0096" y="1920240"/>
            <a:ext cx="502920" cy="5029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672584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672584" y="2926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English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Arabic (RTL)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711696" y="1691640"/>
            <a:ext cx="1920240" cy="2560320"/>
          </a:xfrm>
          <a:prstGeom prst="rect">
            <a:avLst/>
          </a:prstGeom>
          <a:solidFill>
            <a:srgbClr val="1A305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711696" y="1691640"/>
            <a:ext cx="192024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4928" y="1920240"/>
            <a:ext cx="502920" cy="5029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757416" y="25146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Licensed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757416" y="2926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activation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7-day free trial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274320" y="487375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— Inventory Management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72000" y="487375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Overview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256032"/>
          </a:xfrm>
          <a:prstGeom prst="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a shop owner needs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Eight modules — fully configurable, all in one app.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002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0020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78308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76479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stock, cost &amp; selling prices, barcode labels, CSV import.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6002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60020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78308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76479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supplier contacts, VAT/tax numbers, linked to purchase orders.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60020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60020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78308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176479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6364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profiles, credit balance, full invoice history.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5760" y="26974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26974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88036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28620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02920" y="3246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POs, receive stock, distribute transport &amp; customs costs.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46120" y="26974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46120" y="26974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288036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0" y="28620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Invoices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83280" y="3246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series, VAT toggle, discounts, PDF output.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126480" y="269748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26480" y="269748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88036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20840" y="286207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63640" y="324612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quotes, send to customers, convert approved quotes to invoices.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365760" y="37947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365760" y="37947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3977640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60120" y="395935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02920" y="4343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products into sellable sets — stock auto-decrements per component.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3246120" y="3794760"/>
            <a:ext cx="274320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246120" y="379476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3977640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840480" y="395935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3383280" y="43434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built-in reports: sales, P&amp;L, inventory, customer &amp; supplier statements.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274320" y="487375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— Inventory Management</a:t>
            </a:r>
            <a:endParaRPr lang="en-US" sz="900" dirty="0"/>
          </a:p>
        </p:txBody>
      </p:sp>
      <p:sp>
        <p:nvSpPr>
          <p:cNvPr id="48" name="Text 38"/>
          <p:cNvSpPr/>
          <p:nvPr/>
        </p:nvSpPr>
        <p:spPr>
          <a:xfrm>
            <a:off x="4572000" y="487375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256032"/>
          </a:xfrm>
          <a:prstGeom prst="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run out of stock again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inventory tracking with automatic alerts.</a:t>
            </a:r>
            <a:endParaRPr lang="en-US" sz="14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801368"/>
            <a:ext cx="256032" cy="25603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04672" y="17830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 field + label printing (3 sizes)</a:t>
            </a:r>
            <a:endParaRPr lang="en-US" sz="12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04288"/>
            <a:ext cx="256032" cy="25603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04672" y="228600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price vs. selling price — see your margin instantly</a:t>
            </a:r>
            <a:endParaRPr lang="en-US" sz="12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807208"/>
            <a:ext cx="256032" cy="2560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04672" y="2788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Low-stock badge and dashboard counter</a:t>
            </a:r>
            <a:endParaRPr lang="en-US" sz="12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31012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04672" y="329184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stock history via linked purchase orders</a:t>
            </a:r>
            <a:endParaRPr lang="en-US" sz="1250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3813048"/>
            <a:ext cx="256032" cy="25603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804672" y="37947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SKU + profit margin per product</a:t>
            </a:r>
            <a:endParaRPr lang="en-US" sz="125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4315968"/>
            <a:ext cx="256032" cy="256032"/>
          </a:xfrm>
          <a:prstGeom prst="rect">
            <a:avLst/>
          </a:prstGeom>
        </p:spPr>
      </p:pic>
      <p:sp>
        <p:nvSpPr>
          <p:cNvPr id="17" name="Text 9"/>
          <p:cNvSpPr/>
          <p:nvPr/>
        </p:nvSpPr>
        <p:spPr>
          <a:xfrm>
            <a:off x="804672" y="429768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products, customers &amp; suppliers from CSV</a:t>
            </a:r>
            <a:endParaRPr lang="en-US" sz="1250" dirty="0"/>
          </a:p>
        </p:txBody>
      </p:sp>
      <p:sp>
        <p:nvSpPr>
          <p:cNvPr id="18" name="Shape 10"/>
          <p:cNvSpPr/>
          <p:nvPr/>
        </p:nvSpPr>
        <p:spPr>
          <a:xfrm>
            <a:off x="5029200" y="1600200"/>
            <a:ext cx="374904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1"/>
          <p:cNvSpPr/>
          <p:nvPr/>
        </p:nvSpPr>
        <p:spPr>
          <a:xfrm>
            <a:off x="5029200" y="1600200"/>
            <a:ext cx="374904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0" name="Text 12"/>
          <p:cNvSpPr/>
          <p:nvPr/>
        </p:nvSpPr>
        <p:spPr>
          <a:xfrm>
            <a:off x="5120640" y="162763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</a:t>
            </a:r>
            <a:endParaRPr lang="en-US" sz="1000" dirty="0"/>
          </a:p>
        </p:txBody>
      </p:sp>
      <p:sp>
        <p:nvSpPr>
          <p:cNvPr id="21" name="Text 13"/>
          <p:cNvSpPr/>
          <p:nvPr/>
        </p:nvSpPr>
        <p:spPr>
          <a:xfrm>
            <a:off x="6949440" y="162763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</a:t>
            </a:r>
            <a:endParaRPr lang="en-US" sz="1000" dirty="0"/>
          </a:p>
        </p:txBody>
      </p:sp>
      <p:sp>
        <p:nvSpPr>
          <p:cNvPr id="22" name="Text 14"/>
          <p:cNvSpPr/>
          <p:nvPr/>
        </p:nvSpPr>
        <p:spPr>
          <a:xfrm>
            <a:off x="7863840" y="1627632"/>
            <a:ext cx="914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23" name="Shape 15"/>
          <p:cNvSpPr/>
          <p:nvPr/>
        </p:nvSpPr>
        <p:spPr>
          <a:xfrm>
            <a:off x="5029200" y="1993392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16"/>
          <p:cNvSpPr/>
          <p:nvPr/>
        </p:nvSpPr>
        <p:spPr>
          <a:xfrm>
            <a:off x="5120640" y="203911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Mineral Water 1.5L</a:t>
            </a:r>
            <a:endParaRPr lang="en-US" sz="1000" dirty="0"/>
          </a:p>
        </p:txBody>
      </p:sp>
      <p:sp>
        <p:nvSpPr>
          <p:cNvPr id="25" name="Text 17"/>
          <p:cNvSpPr/>
          <p:nvPr/>
        </p:nvSpPr>
        <p:spPr>
          <a:xfrm>
            <a:off x="6949440" y="203911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</a:t>
            </a:r>
            <a:endParaRPr lang="en-US" sz="1000" dirty="0"/>
          </a:p>
        </p:txBody>
      </p:sp>
      <p:sp>
        <p:nvSpPr>
          <p:cNvPr id="26" name="Shape 18"/>
          <p:cNvSpPr/>
          <p:nvPr/>
        </p:nvSpPr>
        <p:spPr>
          <a:xfrm>
            <a:off x="7863840" y="2084832"/>
            <a:ext cx="640080" cy="210312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7" name="Text 19"/>
          <p:cNvSpPr/>
          <p:nvPr/>
        </p:nvSpPr>
        <p:spPr>
          <a:xfrm>
            <a:off x="7863840" y="2084832"/>
            <a:ext cx="640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50" dirty="0"/>
          </a:p>
        </p:txBody>
      </p:sp>
      <p:sp>
        <p:nvSpPr>
          <p:cNvPr id="28" name="Shape 20"/>
          <p:cNvSpPr/>
          <p:nvPr/>
        </p:nvSpPr>
        <p:spPr>
          <a:xfrm>
            <a:off x="5029200" y="2386584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9" name="Text 21"/>
          <p:cNvSpPr/>
          <p:nvPr/>
        </p:nvSpPr>
        <p:spPr>
          <a:xfrm>
            <a:off x="5120640" y="2432304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Olive Oil 750ml</a:t>
            </a:r>
            <a:endParaRPr lang="en-US" sz="1000" dirty="0"/>
          </a:p>
        </p:txBody>
      </p:sp>
      <p:sp>
        <p:nvSpPr>
          <p:cNvPr id="30" name="Text 22"/>
          <p:cNvSpPr/>
          <p:nvPr/>
        </p:nvSpPr>
        <p:spPr>
          <a:xfrm>
            <a:off x="6949440" y="2432304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</a:t>
            </a:r>
            <a:endParaRPr lang="en-US" sz="1000" dirty="0"/>
          </a:p>
        </p:txBody>
      </p:sp>
      <p:sp>
        <p:nvSpPr>
          <p:cNvPr id="31" name="Shape 23"/>
          <p:cNvSpPr/>
          <p:nvPr/>
        </p:nvSpPr>
        <p:spPr>
          <a:xfrm>
            <a:off x="7863840" y="2478024"/>
            <a:ext cx="640080" cy="210312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7863840" y="2478024"/>
            <a:ext cx="640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50" dirty="0"/>
          </a:p>
        </p:txBody>
      </p:sp>
      <p:sp>
        <p:nvSpPr>
          <p:cNvPr id="33" name="Shape 25"/>
          <p:cNvSpPr/>
          <p:nvPr/>
        </p:nvSpPr>
        <p:spPr>
          <a:xfrm>
            <a:off x="5029200" y="2779776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5120640" y="2825496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Paracetamol 500mg</a:t>
            </a:r>
            <a:endParaRPr lang="en-US" sz="1000" dirty="0"/>
          </a:p>
        </p:txBody>
      </p:sp>
      <p:sp>
        <p:nvSpPr>
          <p:cNvPr id="35" name="Text 27"/>
          <p:cNvSpPr/>
          <p:nvPr/>
        </p:nvSpPr>
        <p:spPr>
          <a:xfrm>
            <a:off x="6949440" y="2825496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6" name="Shape 28"/>
          <p:cNvSpPr/>
          <p:nvPr/>
        </p:nvSpPr>
        <p:spPr>
          <a:xfrm>
            <a:off x="7863840" y="2871216"/>
            <a:ext cx="640080" cy="210312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7" name="Text 29"/>
          <p:cNvSpPr/>
          <p:nvPr/>
        </p:nvSpPr>
        <p:spPr>
          <a:xfrm>
            <a:off x="7863840" y="2871216"/>
            <a:ext cx="640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38" name="Shape 30"/>
          <p:cNvSpPr/>
          <p:nvPr/>
        </p:nvSpPr>
        <p:spPr>
          <a:xfrm>
            <a:off x="5029200" y="3172968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9" name="Text 31"/>
          <p:cNvSpPr/>
          <p:nvPr/>
        </p:nvSpPr>
        <p:spPr>
          <a:xfrm>
            <a:off x="5120640" y="3218688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Latex Gloves M</a:t>
            </a:r>
            <a:endParaRPr lang="en-US" sz="1000" dirty="0"/>
          </a:p>
        </p:txBody>
      </p:sp>
      <p:sp>
        <p:nvSpPr>
          <p:cNvPr id="40" name="Text 32"/>
          <p:cNvSpPr/>
          <p:nvPr/>
        </p:nvSpPr>
        <p:spPr>
          <a:xfrm>
            <a:off x="6949440" y="3218688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1000" dirty="0"/>
          </a:p>
        </p:txBody>
      </p:sp>
      <p:sp>
        <p:nvSpPr>
          <p:cNvPr id="41" name="Shape 33"/>
          <p:cNvSpPr/>
          <p:nvPr/>
        </p:nvSpPr>
        <p:spPr>
          <a:xfrm>
            <a:off x="7863840" y="3264408"/>
            <a:ext cx="640080" cy="210312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7863840" y="3264408"/>
            <a:ext cx="640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50" dirty="0"/>
          </a:p>
        </p:txBody>
      </p:sp>
      <p:sp>
        <p:nvSpPr>
          <p:cNvPr id="43" name="Shape 35"/>
          <p:cNvSpPr/>
          <p:nvPr/>
        </p:nvSpPr>
        <p:spPr>
          <a:xfrm>
            <a:off x="5029200" y="3566160"/>
            <a:ext cx="3749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5120640" y="3611880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Espresso Beans 1kg</a:t>
            </a:r>
            <a:endParaRPr lang="en-US" sz="1000" dirty="0"/>
          </a:p>
        </p:txBody>
      </p:sp>
      <p:sp>
        <p:nvSpPr>
          <p:cNvPr id="45" name="Text 37"/>
          <p:cNvSpPr/>
          <p:nvPr/>
        </p:nvSpPr>
        <p:spPr>
          <a:xfrm>
            <a:off x="6949440" y="3611880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46" name="Shape 38"/>
          <p:cNvSpPr/>
          <p:nvPr/>
        </p:nvSpPr>
        <p:spPr>
          <a:xfrm>
            <a:off x="7863840" y="3657600"/>
            <a:ext cx="640080" cy="210312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7" name="Text 39"/>
          <p:cNvSpPr/>
          <p:nvPr/>
        </p:nvSpPr>
        <p:spPr>
          <a:xfrm>
            <a:off x="7863840" y="3657600"/>
            <a:ext cx="640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850" dirty="0"/>
          </a:p>
        </p:txBody>
      </p:sp>
      <p:sp>
        <p:nvSpPr>
          <p:cNvPr id="48" name="Shape 40"/>
          <p:cNvSpPr/>
          <p:nvPr/>
        </p:nvSpPr>
        <p:spPr>
          <a:xfrm>
            <a:off x="5029200" y="3959352"/>
            <a:ext cx="3749040" cy="384048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5120640" y="4005072"/>
            <a:ext cx="1737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Copy Paper</a:t>
            </a:r>
            <a:endParaRPr lang="en-US" sz="1000" dirty="0"/>
          </a:p>
        </p:txBody>
      </p:sp>
      <p:sp>
        <p:nvSpPr>
          <p:cNvPr id="50" name="Text 42"/>
          <p:cNvSpPr/>
          <p:nvPr/>
        </p:nvSpPr>
        <p:spPr>
          <a:xfrm>
            <a:off x="6949440" y="4005072"/>
            <a:ext cx="822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120</a:t>
            </a:r>
            <a:endParaRPr lang="en-US" sz="1000" dirty="0"/>
          </a:p>
        </p:txBody>
      </p:sp>
      <p:sp>
        <p:nvSpPr>
          <p:cNvPr id="51" name="Shape 43"/>
          <p:cNvSpPr/>
          <p:nvPr/>
        </p:nvSpPr>
        <p:spPr>
          <a:xfrm>
            <a:off x="7863840" y="4050792"/>
            <a:ext cx="640080" cy="210312"/>
          </a:xfrm>
          <a:prstGeom prst="rect">
            <a:avLst>
              <a:gd name="adj" fmla="val 17391"/>
            </a:avLst>
          </a:prstGeom>
          <a:solidFill>
            <a:srgbClr val="FEF3C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44"/>
          <p:cNvSpPr/>
          <p:nvPr/>
        </p:nvSpPr>
        <p:spPr>
          <a:xfrm>
            <a:off x="7863840" y="4050792"/>
            <a:ext cx="64008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850" dirty="0"/>
          </a:p>
        </p:txBody>
      </p:sp>
      <p:sp>
        <p:nvSpPr>
          <p:cNvPr id="53" name="Shape 4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4" name="Text 46"/>
          <p:cNvSpPr/>
          <p:nvPr/>
        </p:nvSpPr>
        <p:spPr>
          <a:xfrm>
            <a:off x="274320" y="487375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— Inventory Management</a:t>
            </a:r>
            <a:endParaRPr lang="en-US" sz="900" dirty="0"/>
          </a:p>
        </p:txBody>
      </p:sp>
      <p:sp>
        <p:nvSpPr>
          <p:cNvPr id="55" name="Text 47"/>
          <p:cNvSpPr/>
          <p:nvPr/>
        </p:nvSpPr>
        <p:spPr>
          <a:xfrm>
            <a:off x="4572000" y="487375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Inventory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256032"/>
          </a:xfrm>
          <a:prstGeom prst="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invoices, track payments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exactly what's been paid and what's outstanding.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69164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691640"/>
            <a:ext cx="64008" cy="1188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783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$845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438912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invoiced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38912" y="2560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month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50592" y="169164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50592" y="1691640"/>
            <a:ext cx="64008" cy="118872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15184" y="1783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$190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615184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615184" y="2560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unpaid invoice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26864" y="169164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26864" y="1691640"/>
            <a:ext cx="64008" cy="11887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91456" y="1783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4791456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Invoices issued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91456" y="2560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803136" y="1691640"/>
            <a:ext cx="196596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03136" y="1691640"/>
            <a:ext cx="64008" cy="11887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7728" y="1783080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22"/>
          <p:cNvSpPr/>
          <p:nvPr/>
        </p:nvSpPr>
        <p:spPr>
          <a:xfrm>
            <a:off x="6967728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paid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67728" y="2560320"/>
            <a:ext cx="1737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time</a:t>
            </a:r>
            <a:endParaRPr lang="en-US" sz="1000" dirty="0"/>
          </a:p>
        </p:txBody>
      </p:sp>
      <p:pic>
        <p:nvPicPr>
          <p:cNvPr id="2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3063240"/>
            <a:ext cx="274320" cy="274320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658368" y="3017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series</a:t>
            </a:r>
            <a:endParaRPr lang="en-US" sz="1150" dirty="0"/>
          </a:p>
        </p:txBody>
      </p:sp>
      <p:sp>
        <p:nvSpPr>
          <p:cNvPr id="28" name="Text 25"/>
          <p:cNvSpPr/>
          <p:nvPr/>
        </p:nvSpPr>
        <p:spPr>
          <a:xfrm>
            <a:off x="658368" y="3273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series with custom prefixes, starting numbers, and counters.</a:t>
            </a:r>
            <a:endParaRPr lang="en-US" sz="105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3063240"/>
            <a:ext cx="274320" cy="274320"/>
          </a:xfrm>
          <a:prstGeom prst="rect">
            <a:avLst/>
          </a:prstGeom>
        </p:spPr>
      </p:pic>
      <p:sp>
        <p:nvSpPr>
          <p:cNvPr id="30" name="Text 26"/>
          <p:cNvSpPr/>
          <p:nvPr/>
        </p:nvSpPr>
        <p:spPr>
          <a:xfrm>
            <a:off x="5047488" y="3017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VAT + Discounts</a:t>
            </a:r>
            <a:endParaRPr lang="en-US" sz="1150" dirty="0"/>
          </a:p>
        </p:txBody>
      </p:sp>
      <p:sp>
        <p:nvSpPr>
          <p:cNvPr id="31" name="Text 27"/>
          <p:cNvSpPr/>
          <p:nvPr/>
        </p:nvSpPr>
        <p:spPr>
          <a:xfrm>
            <a:off x="5047488" y="32735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Per-invoice VAT toggle, line &amp; invoice discounts, customer credit balance.</a:t>
            </a:r>
            <a:endParaRPr lang="en-US" sz="1050" dirty="0"/>
          </a:p>
        </p:txBody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749040"/>
            <a:ext cx="274320" cy="274320"/>
          </a:xfrm>
          <a:prstGeom prst="rect">
            <a:avLst/>
          </a:prstGeom>
        </p:spPr>
      </p:pic>
      <p:sp>
        <p:nvSpPr>
          <p:cNvPr id="33" name="Text 28"/>
          <p:cNvSpPr/>
          <p:nvPr/>
        </p:nvSpPr>
        <p:spPr>
          <a:xfrm>
            <a:off x="658368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+ Notes</a:t>
            </a:r>
            <a:endParaRPr lang="en-US" sz="1150" dirty="0"/>
          </a:p>
        </p:txBody>
      </p:sp>
      <p:sp>
        <p:nvSpPr>
          <p:cNvPr id="34" name="Text 29"/>
          <p:cNvSpPr/>
          <p:nvPr/>
        </p:nvSpPr>
        <p:spPr>
          <a:xfrm>
            <a:off x="658368" y="3959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A4 PDF with logo, full customer details, VAT, discounts, and custom note.</a:t>
            </a:r>
            <a:endParaRPr lang="en-US" sz="1050" dirty="0"/>
          </a:p>
        </p:txBody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749040"/>
            <a:ext cx="274320" cy="27432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5047488" y="37033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Quotations</a:t>
            </a:r>
            <a:endParaRPr lang="en-US" sz="1150" dirty="0"/>
          </a:p>
        </p:txBody>
      </p:sp>
      <p:sp>
        <p:nvSpPr>
          <p:cNvPr id="37" name="Text 31"/>
          <p:cNvSpPr/>
          <p:nvPr/>
        </p:nvSpPr>
        <p:spPr>
          <a:xfrm>
            <a:off x="5047488" y="39593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quotes, get approval, convert to invoice in one click.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274320" y="487375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— Inventory Management</a:t>
            </a:r>
            <a:endParaRPr lang="en-US" sz="900" dirty="0"/>
          </a:p>
        </p:txBody>
      </p:sp>
      <p:sp>
        <p:nvSpPr>
          <p:cNvPr id="40" name="Text 34"/>
          <p:cNvSpPr/>
          <p:nvPr/>
        </p:nvSpPr>
        <p:spPr>
          <a:xfrm>
            <a:off x="4572000" y="487375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Invoices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256032"/>
          </a:xfrm>
          <a:prstGeom prst="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PURCHASING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 made simple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from suppliers and restock in a few clicks.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914400" y="164592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30449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supplier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add products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874520" y="2048256"/>
            <a:ext cx="53035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26080" y="164592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246888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as Draft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468880" y="30449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anytime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receiving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886200" y="2048256"/>
            <a:ext cx="53035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937760" y="164592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3776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48056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as Received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480560" y="30449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delivery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app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897880" y="2048256"/>
            <a:ext cx="530352" cy="109728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49440" y="1645920"/>
            <a:ext cx="914400" cy="9144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949440" y="164592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492240" y="269748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Updated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044952"/>
            <a:ext cx="1828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Transport, customs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extra costs logged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57200" y="3749040"/>
            <a:ext cx="82296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3749040"/>
            <a:ext cx="8229600" cy="30175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" y="37673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 #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371600" y="37673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703320" y="3767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46320" y="3767328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623560" y="37673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3767328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94360" y="406908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PO-003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371600" y="4069080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Gulf Products LLC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3703320" y="40690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Mar 2026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846320" y="4069080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4069080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$210.00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766560" y="4105656"/>
            <a:ext cx="1005840" cy="201168"/>
          </a:xfrm>
          <a:prstGeom prst="rect">
            <a:avLst>
              <a:gd name="adj" fmla="val 18182"/>
            </a:avLst>
          </a:prstGeom>
          <a:solidFill>
            <a:srgbClr val="E6F7F5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4105656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594360" y="440740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PO-004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1371600" y="4407408"/>
            <a:ext cx="22860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EuroGoods Import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3703320" y="440740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Apr 2026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846320" y="4407408"/>
            <a:ext cx="7315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623560" y="4407408"/>
            <a:ext cx="10972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$280.00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766560" y="4443984"/>
            <a:ext cx="1005840" cy="201168"/>
          </a:xfrm>
          <a:prstGeom prst="rect">
            <a:avLst>
              <a:gd name="adj" fmla="val 18182"/>
            </a:avLst>
          </a:prstGeom>
          <a:solidFill>
            <a:srgbClr val="E6F7F5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766560" y="4443984"/>
            <a:ext cx="1005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74320" y="487375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— Inventory Management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0" y="487375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Orders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256032"/>
          </a:xfrm>
          <a:prstGeom prst="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at your fingertips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 built-in reports — all printable, all filterable by date range.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45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6459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1828800"/>
            <a:ext cx="347472" cy="34747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60120" y="18105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Report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invoice count, and per-customer breakdown for any date range.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645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46120" y="16459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712" y="1828800"/>
            <a:ext cx="347472" cy="34747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840480" y="18105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Payments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338328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unpaid and partial invoices with customer name and outstanding balance.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126480" y="1645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126480" y="16459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1072" y="1828800"/>
            <a:ext cx="347472" cy="34747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720840" y="18105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History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263640" y="2194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invoice for a specific customer in chronological order.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365760" y="2788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65760" y="27889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971800"/>
            <a:ext cx="347472" cy="3474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60120" y="29535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Report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502920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list with current quantities and stock values.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46120" y="2788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246120" y="27889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0712" y="2971800"/>
            <a:ext cx="347472" cy="34747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3840480" y="29535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Stock Alert</a:t>
            </a:r>
            <a:endParaRPr lang="en-US" sz="1200" dirty="0"/>
          </a:p>
        </p:txBody>
      </p:sp>
      <p:sp>
        <p:nvSpPr>
          <p:cNvPr id="30" name="Text 23"/>
          <p:cNvSpPr/>
          <p:nvPr/>
        </p:nvSpPr>
        <p:spPr>
          <a:xfrm>
            <a:off x="3383280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at or below minimum threshold — act before you run out.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126480" y="2788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126480" y="27889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91072" y="2971800"/>
            <a:ext cx="347472" cy="34747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720840" y="29535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&amp; Loss</a:t>
            </a:r>
            <a:endParaRPr lang="en-US" sz="1200" dirty="0"/>
          </a:p>
        </p:txBody>
      </p:sp>
      <p:sp>
        <p:nvSpPr>
          <p:cNvPr id="35" name="Text 27"/>
          <p:cNvSpPr/>
          <p:nvPr/>
        </p:nvSpPr>
        <p:spPr>
          <a:xfrm>
            <a:off x="6263640" y="3337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COGS, gross profit, extra PO costs, and net profit.</a:t>
            </a:r>
            <a:endParaRPr lang="en-US" sz="1050" dirty="0"/>
          </a:p>
        </p:txBody>
      </p:sp>
      <p:sp>
        <p:nvSpPr>
          <p:cNvPr id="36" name="Shape 28"/>
          <p:cNvSpPr/>
          <p:nvPr/>
        </p:nvSpPr>
        <p:spPr>
          <a:xfrm>
            <a:off x="365760" y="3931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365760" y="39319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352" y="4114800"/>
            <a:ext cx="347472" cy="347472"/>
          </a:xfrm>
          <a:prstGeom prst="rect">
            <a:avLst/>
          </a:prstGeom>
        </p:spPr>
      </p:pic>
      <p:sp>
        <p:nvSpPr>
          <p:cNvPr id="39" name="Text 30"/>
          <p:cNvSpPr/>
          <p:nvPr/>
        </p:nvSpPr>
        <p:spPr>
          <a:xfrm>
            <a:off x="960120" y="40965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Statement</a:t>
            </a:r>
            <a:endParaRPr lang="en-US" sz="1200" dirty="0"/>
          </a:p>
        </p:txBody>
      </p:sp>
      <p:sp>
        <p:nvSpPr>
          <p:cNvPr id="40" name="Text 31"/>
          <p:cNvSpPr/>
          <p:nvPr/>
        </p:nvSpPr>
        <p:spPr>
          <a:xfrm>
            <a:off x="50292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transaction history: invoices, payments, credits, and running balance.</a:t>
            </a:r>
            <a:endParaRPr lang="en-US" sz="1050" dirty="0"/>
          </a:p>
        </p:txBody>
      </p:sp>
      <p:sp>
        <p:nvSpPr>
          <p:cNvPr id="41" name="Shape 32"/>
          <p:cNvSpPr/>
          <p:nvPr/>
        </p:nvSpPr>
        <p:spPr>
          <a:xfrm>
            <a:off x="3246120" y="3931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3246120" y="39319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10712" y="4114800"/>
            <a:ext cx="347472" cy="347472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3840480" y="40965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Statement</a:t>
            </a:r>
            <a:endParaRPr lang="en-US" sz="1200" dirty="0"/>
          </a:p>
        </p:txBody>
      </p:sp>
      <p:sp>
        <p:nvSpPr>
          <p:cNvPr id="45" name="Text 35"/>
          <p:cNvSpPr/>
          <p:nvPr/>
        </p:nvSpPr>
        <p:spPr>
          <a:xfrm>
            <a:off x="338328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purchase orders for a supplier with full cost breakdown.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6126480" y="393192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7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6126480" y="3931920"/>
            <a:ext cx="2743200" cy="54864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91072" y="4114800"/>
            <a:ext cx="347472" cy="347472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6720840" y="4096512"/>
            <a:ext cx="2057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Statement</a:t>
            </a:r>
            <a:endParaRPr lang="en-US" sz="1200" dirty="0"/>
          </a:p>
        </p:txBody>
      </p:sp>
      <p:sp>
        <p:nvSpPr>
          <p:cNvPr id="50" name="Text 39"/>
          <p:cNvSpPr/>
          <p:nvPr/>
        </p:nvSpPr>
        <p:spPr>
          <a:xfrm>
            <a:off x="6263640" y="448056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income and expense view across all transactions in a date range.</a:t>
            </a:r>
            <a:endParaRPr lang="en-US" sz="1050" dirty="0"/>
          </a:p>
        </p:txBody>
      </p:sp>
      <p:sp>
        <p:nvSpPr>
          <p:cNvPr id="51" name="Shape 40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52" name="Text 41"/>
          <p:cNvSpPr/>
          <p:nvPr/>
        </p:nvSpPr>
        <p:spPr>
          <a:xfrm>
            <a:off x="274320" y="487375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— Inventory Management</a:t>
            </a:r>
            <a:endParaRPr lang="en-US" sz="900" dirty="0"/>
          </a:p>
        </p:txBody>
      </p:sp>
      <p:sp>
        <p:nvSpPr>
          <p:cNvPr id="53" name="Text 42"/>
          <p:cNvSpPr/>
          <p:nvPr/>
        </p:nvSpPr>
        <p:spPr>
          <a:xfrm>
            <a:off x="4572000" y="487375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256032"/>
          </a:xfrm>
          <a:prstGeom prst="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business at a glance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dashboard loads in under 1 second — always up to date.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" y="1572768"/>
            <a:ext cx="443484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52400" dist="38100" dir="8100000">
              <a:srgbClr val="000000">
                <a:alpha val="1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8600" y="1572768"/>
            <a:ext cx="4434840" cy="30632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937760" y="1600200"/>
            <a:ext cx="3840480" cy="2926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600200"/>
            <a:ext cx="3840480" cy="36576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074920" y="1627632"/>
            <a:ext cx="3566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  Settings (6 tabs)</a:t>
            </a:r>
            <a:endParaRPr lang="en-US" sz="12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093976"/>
            <a:ext cx="228600" cy="2286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94960" y="2057400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Info — name, address, logo, VAT number</a:t>
            </a:r>
            <a:endParaRPr lang="en-US" sz="115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20" y="2514600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394960" y="2478024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Preferences — language, currency, VAT rate</a:t>
            </a:r>
            <a:endParaRPr lang="en-US" sz="11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2935224"/>
            <a:ext cx="228600" cy="22860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394960" y="2898648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Series — prefixes, counters, starting numbers</a:t>
            </a:r>
            <a:endParaRPr lang="en-US" sz="115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3355848"/>
            <a:ext cx="228600" cy="2286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5394960" y="3319272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— toggle any module on or off</a:t>
            </a:r>
            <a:endParaRPr lang="en-US" sz="115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20" y="3776472"/>
            <a:ext cx="228600" cy="2286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5394960" y="3739896"/>
            <a:ext cx="3200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&amp; Updates — activation and auto-updates</a:t>
            </a:r>
            <a:endParaRPr lang="en-US" sz="1150" dirty="0"/>
          </a:p>
        </p:txBody>
      </p:sp>
      <p:sp>
        <p:nvSpPr>
          <p:cNvPr id="21" name="Shape 13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2" name="Text 14"/>
          <p:cNvSpPr/>
          <p:nvPr/>
        </p:nvSpPr>
        <p:spPr>
          <a:xfrm>
            <a:off x="274320" y="487375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— Inventory Management</a:t>
            </a:r>
            <a:endParaRPr lang="en-US" sz="900" dirty="0"/>
          </a:p>
        </p:txBody>
      </p:sp>
      <p:sp>
        <p:nvSpPr>
          <p:cNvPr id="23" name="Text 15"/>
          <p:cNvSpPr/>
          <p:nvPr/>
        </p:nvSpPr>
        <p:spPr>
          <a:xfrm>
            <a:off x="4572000" y="487375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Settings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20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reliability.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choices that make Stokka fast, secure, and maintenance-free.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977640" cy="1188720"/>
          </a:xfrm>
          <a:prstGeom prst="rect">
            <a:avLst/>
          </a:prstGeom>
          <a:solidFill>
            <a:srgbClr val="1A305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7099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691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 + React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43000" y="20574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desktop feel with modern web UI technology.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800600" y="1600200"/>
            <a:ext cx="3977640" cy="1188720"/>
          </a:xfrm>
          <a:prstGeom prst="rect">
            <a:avLst/>
          </a:prstGeom>
          <a:solidFill>
            <a:srgbClr val="1A305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70992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486400" y="169164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Database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0" y="20574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data stored locally on the machine — no cloud, no breach risk.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57200" y="2926080"/>
            <a:ext cx="3977640" cy="1188720"/>
          </a:xfrm>
          <a:prstGeom prst="rect">
            <a:avLst/>
          </a:prstGeom>
          <a:solidFill>
            <a:srgbClr val="1A305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035808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30175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License System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143000" y="3383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Per-machine activation key. 7-day free trial included.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4800600" y="2926080"/>
            <a:ext cx="3977640" cy="1188720"/>
          </a:xfrm>
          <a:prstGeom prst="rect">
            <a:avLst/>
          </a:prstGeom>
          <a:solidFill>
            <a:srgbClr val="1A3057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3035808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486400" y="3017520"/>
            <a:ext cx="3108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i18n / RTL Ready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5486400" y="338328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Arabic support — layout mirrors automatically.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274320" y="487375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— Inventory Management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4572000" y="487375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20040"/>
            <a:ext cx="1280160" cy="256032"/>
          </a:xfrm>
          <a:prstGeom prst="rect">
            <a:avLst>
              <a:gd name="adj" fmla="val 2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12801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STOKKA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right tool for your shop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focused, affordable alternative to complex ERP systems.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691640"/>
            <a:ext cx="201168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91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377440" y="1691640"/>
            <a:ext cx="14630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1691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840480" y="1691640"/>
            <a:ext cx="146304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931920" y="169164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0" y="1691640"/>
            <a:ext cx="1645920" cy="384048"/>
          </a:xfrm>
          <a:prstGeom prst="rect">
            <a:avLst/>
          </a:prstGeom>
          <a:solidFill>
            <a:srgbClr val="0F2044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169164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Apps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65760" y="2075688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07568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offline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377440" y="2075688"/>
            <a:ext cx="1463040" cy="384048"/>
          </a:xfrm>
          <a:prstGeom prst="rect">
            <a:avLst/>
          </a:prstGeom>
          <a:solidFill>
            <a:srgbClr val="E6F7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6888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840480" y="2075688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07568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303520" y="2075688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394960" y="207568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65760" y="2459736"/>
            <a:ext cx="20116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2459736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Arabic UI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2377440" y="2459736"/>
            <a:ext cx="1463040" cy="384048"/>
          </a:xfrm>
          <a:prstGeom prst="rect">
            <a:avLst/>
          </a:prstGeom>
          <a:solidFill>
            <a:srgbClr val="E6F7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468880" y="2459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3840480" y="2459736"/>
            <a:ext cx="14630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931920" y="2459736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303520" y="2459736"/>
            <a:ext cx="1645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94960" y="2459736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365760" y="2843784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2843784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training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2377440" y="2843784"/>
            <a:ext cx="1463040" cy="384048"/>
          </a:xfrm>
          <a:prstGeom prst="rect">
            <a:avLst/>
          </a:prstGeom>
          <a:solidFill>
            <a:srgbClr val="E6F7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8437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3840480" y="2843784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931920" y="2843784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5303520" y="2843784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394960" y="2843784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365760" y="3227832"/>
            <a:ext cx="20116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3227832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inventory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2377440" y="3227832"/>
            <a:ext cx="1463040" cy="384048"/>
          </a:xfrm>
          <a:prstGeom prst="rect">
            <a:avLst/>
          </a:prstGeom>
          <a:solidFill>
            <a:srgbClr val="E6F7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468880" y="32278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3840480" y="3227832"/>
            <a:ext cx="14630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931920" y="3227832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5303520" y="3227832"/>
            <a:ext cx="1645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394960" y="3227832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46" name="Shape 44"/>
          <p:cNvSpPr/>
          <p:nvPr/>
        </p:nvSpPr>
        <p:spPr>
          <a:xfrm>
            <a:off x="365760" y="3611880"/>
            <a:ext cx="201168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57200" y="361188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 cost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2377440" y="3611880"/>
            <a:ext cx="1463040" cy="384048"/>
          </a:xfrm>
          <a:prstGeom prst="rect">
            <a:avLst/>
          </a:prstGeom>
          <a:solidFill>
            <a:srgbClr val="E6F7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468880" y="3611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0" name="Shape 48"/>
          <p:cNvSpPr/>
          <p:nvPr/>
        </p:nvSpPr>
        <p:spPr>
          <a:xfrm>
            <a:off x="3840480" y="3611880"/>
            <a:ext cx="146304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931920" y="3611880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52" name="Shape 50"/>
          <p:cNvSpPr/>
          <p:nvPr/>
        </p:nvSpPr>
        <p:spPr>
          <a:xfrm>
            <a:off x="5303520" y="3611880"/>
            <a:ext cx="1645920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0" y="3611880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Monthly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65760" y="3995928"/>
            <a:ext cx="201168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57200" y="3995928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invoices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2377440" y="3995928"/>
            <a:ext cx="1463040" cy="384048"/>
          </a:xfrm>
          <a:prstGeom prst="rect">
            <a:avLst/>
          </a:prstGeom>
          <a:solidFill>
            <a:srgbClr val="E6F7F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468880" y="3995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3840480" y="3995928"/>
            <a:ext cx="146304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931920" y="3995928"/>
            <a:ext cx="1371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5303520" y="3995928"/>
            <a:ext cx="1645920" cy="384048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394960" y="3995928"/>
            <a:ext cx="1554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50" dirty="0"/>
          </a:p>
        </p:txBody>
      </p:sp>
      <p:sp>
        <p:nvSpPr>
          <p:cNvPr id="62" name="Text 60"/>
          <p:cNvSpPr/>
          <p:nvPr/>
        </p:nvSpPr>
        <p:spPr>
          <a:xfrm>
            <a:off x="6858000" y="16916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20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fits if your client:</a:t>
            </a:r>
            <a:endParaRPr lang="en-US" sz="1100" dirty="0"/>
          </a:p>
        </p:txBody>
      </p:sp>
      <p:pic>
        <p:nvPicPr>
          <p:cNvPr id="6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0" y="2148840"/>
            <a:ext cx="237744" cy="237744"/>
          </a:xfrm>
          <a:prstGeom prst="rect">
            <a:avLst/>
          </a:prstGeom>
        </p:spPr>
      </p:pic>
      <p:sp>
        <p:nvSpPr>
          <p:cNvPr id="64" name="Text 61"/>
          <p:cNvSpPr/>
          <p:nvPr/>
        </p:nvSpPr>
        <p:spPr>
          <a:xfrm>
            <a:off x="7178040" y="212140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non-technical users</a:t>
            </a:r>
            <a:endParaRPr lang="en-US" sz="1050" dirty="0"/>
          </a:p>
        </p:txBody>
      </p:sp>
      <p:pic>
        <p:nvPicPr>
          <p:cNvPr id="6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624328"/>
            <a:ext cx="237744" cy="237744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7178040" y="2596896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in under 30 minutes</a:t>
            </a:r>
            <a:endParaRPr lang="en-US" sz="1050" dirty="0"/>
          </a:p>
        </p:txBody>
      </p:sp>
      <p:pic>
        <p:nvPicPr>
          <p:cNvPr id="6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3099816"/>
            <a:ext cx="237744" cy="237744"/>
          </a:xfrm>
          <a:prstGeom prst="rect">
            <a:avLst/>
          </a:prstGeom>
        </p:spPr>
      </p:pic>
      <p:sp>
        <p:nvSpPr>
          <p:cNvPr id="68" name="Text 63"/>
          <p:cNvSpPr/>
          <p:nvPr/>
        </p:nvSpPr>
        <p:spPr>
          <a:xfrm>
            <a:off x="7178040" y="3072384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internet required — ever</a:t>
            </a:r>
            <a:endParaRPr lang="en-US" sz="1050" dirty="0"/>
          </a:p>
        </p:txBody>
      </p:sp>
      <p:pic>
        <p:nvPicPr>
          <p:cNvPr id="6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0" y="3575304"/>
            <a:ext cx="237744" cy="237744"/>
          </a:xfrm>
          <a:prstGeom prst="rect">
            <a:avLst/>
          </a:prstGeom>
        </p:spPr>
      </p:pic>
      <p:sp>
        <p:nvSpPr>
          <p:cNvPr id="70" name="Text 64"/>
          <p:cNvSpPr/>
          <p:nvPr/>
        </p:nvSpPr>
        <p:spPr>
          <a:xfrm>
            <a:off x="7178040" y="3547872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from day one</a:t>
            </a:r>
            <a:endParaRPr lang="en-US" sz="1050" dirty="0"/>
          </a:p>
        </p:txBody>
      </p:sp>
      <p:pic>
        <p:nvPicPr>
          <p:cNvPr id="7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4050792"/>
            <a:ext cx="237744" cy="237744"/>
          </a:xfrm>
          <a:prstGeom prst="rect">
            <a:avLst/>
          </a:prstGeom>
        </p:spPr>
      </p:pic>
      <p:sp>
        <p:nvSpPr>
          <p:cNvPr id="72" name="Text 65"/>
          <p:cNvSpPr/>
          <p:nvPr/>
        </p:nvSpPr>
        <p:spPr>
          <a:xfrm>
            <a:off x="7178040" y="4023360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stays on your machine</a:t>
            </a:r>
            <a:endParaRPr lang="en-US" sz="1050" dirty="0"/>
          </a:p>
        </p:txBody>
      </p:sp>
      <p:pic>
        <p:nvPicPr>
          <p:cNvPr id="7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58000" y="4526280"/>
            <a:ext cx="237744" cy="237744"/>
          </a:xfrm>
          <a:prstGeom prst="rect">
            <a:avLst/>
          </a:prstGeom>
        </p:spPr>
      </p:pic>
      <p:sp>
        <p:nvSpPr>
          <p:cNvPr id="74" name="Text 66"/>
          <p:cNvSpPr/>
          <p:nvPr/>
        </p:nvSpPr>
        <p:spPr>
          <a:xfrm>
            <a:off x="7178040" y="4498848"/>
            <a:ext cx="1645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Bundles, quotations &amp; CSV import built-in</a:t>
            </a:r>
            <a:endParaRPr lang="en-US" sz="1050" dirty="0"/>
          </a:p>
        </p:txBody>
      </p:sp>
      <p:sp>
        <p:nvSpPr>
          <p:cNvPr id="75" name="Shape 6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76" name="Text 68"/>
          <p:cNvSpPr/>
          <p:nvPr/>
        </p:nvSpPr>
        <p:spPr>
          <a:xfrm>
            <a:off x="274320" y="4873752"/>
            <a:ext cx="45720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 — Inventory Management</a:t>
            </a:r>
            <a:endParaRPr lang="en-US" sz="900" dirty="0"/>
          </a:p>
        </p:txBody>
      </p:sp>
      <p:sp>
        <p:nvSpPr>
          <p:cNvPr id="77" name="Text 69"/>
          <p:cNvSpPr/>
          <p:nvPr/>
        </p:nvSpPr>
        <p:spPr>
          <a:xfrm>
            <a:off x="4572000" y="4873752"/>
            <a:ext cx="42976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Stokka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972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731520"/>
            <a:ext cx="73152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simplify your</a:t>
            </a:r>
            <a:endParaRPr lang="en-US" sz="36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management?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23317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demo — we'll set it up and show you the full workflow in under 20 minutes.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0" y="2926080"/>
            <a:ext cx="2743200" cy="566928"/>
          </a:xfrm>
          <a:prstGeom prst="rect">
            <a:avLst>
              <a:gd name="adj" fmla="val 1290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0" y="292608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Free Demo →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stokka.app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Stokka — Sales Presentation</dc:title>
  <dc:subject>PptxGenJS Presentation</dc:subject>
  <dc:creator>Stokka</dc:creator>
  <cp:lastModifiedBy>Stokka</cp:lastModifiedBy>
  <cp:revision>1</cp:revision>
  <dcterms:created xsi:type="dcterms:W3CDTF">2026-04-15T20:28:22Z</dcterms:created>
  <dcterms:modified xsi:type="dcterms:W3CDTF">2026-04-15T20:28:22Z</dcterms:modified>
</cp:coreProperties>
</file>